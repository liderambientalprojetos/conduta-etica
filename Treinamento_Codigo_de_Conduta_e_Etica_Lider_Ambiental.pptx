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2103120" cy="1143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4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0"/>
            <a:ext cx="109728" cy="6858000"/>
          </a:xfrm>
          <a:prstGeom prst="rect">
            <a:avLst/>
          </a:prstGeom>
          <a:solidFill>
            <a:srgbClr val="8DC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241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4392B"/>
                </a:solidFill>
              </a:defRPr>
            </a:pPr>
            <a:r>
              <a:t>CÓDIGO DE CONDUTA E ÉTICA</a:t>
            </a:r>
          </a:p>
          <a:p>
            <a:pPr>
              <a:defRPr sz="2500">
                <a:solidFill>
                  <a:srgbClr val="8DC441"/>
                </a:solidFill>
              </a:defRPr>
            </a:pPr>
            <a:r>
              <a:t>Treinamento para colaboradores</a:t>
            </a:r>
          </a:p>
          <a:p>
            <a:pPr>
              <a:defRPr sz="1700">
                <a:solidFill>
                  <a:srgbClr val="696969"/>
                </a:solidFill>
              </a:defRPr>
            </a:pPr>
            <a:r>
              <a:t>Fazer o certo. Agir com respeito. Trabalhar com responsabilidade.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66360"/>
            <a:ext cx="10241280" cy="73152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74392B"/>
                </a:solidFill>
              </a:defRPr>
            </a:pPr>
            <a:r>
              <a:t>Treinamento digital • Líder Ambiental Consultoria e Projetos Ltda.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Objetivos do treinamento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Ao final, você deverá reconhecer as regras essenciais do Código e saber como agir em situações do dia a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Compreender os compromissos éticos da Líder Ambiental.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Reconhecer condutas proibidas e situações de risco.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Saber como proteger pessoas, dados, clientes e o meio ambiente.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Aplicar o Código às decisões e atividades profissionais.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Regra de ouro: na dúvida, pare e procure orientação antes de agir.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989320"/>
            <a:ext cx="2926080" cy="347472"/>
          </a:xfrm>
          <a:prstGeom prst="roundRect">
            <a:avLst/>
          </a:prstGeom>
          <a:solidFill>
            <a:srgbClr val="F7F9F4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96969"/>
                </a:solidFill>
              </a:defRPr>
            </a:pPr>
            <a:r>
              <a:t>Instrutor: explique os objetivos.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Quem deve cumprir o Código?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As regras se aplicam a toda a organização.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Todos os empregados da Líder Ambiental.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Supervisores, coordenadores e gerentes.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Diretores e sócios.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Clientes e fornecedores devem ser tratados sob o mesmo padrão ético esperado nas relações comerciais.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Ninguém está imune às regras e às sanções previstas no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Direitos humanos e dignidade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Respeito é um compromisso formal da empresa.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 empresa se compromete a respeitar, proteger e promover os direitos humanos.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Ambiente de trabalho baseado em respeito mútuo.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são tolerados assédio moral, assédio sexual, abuso de poder ou violência verbal/física.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Todos têm responsabilidade por um ambiente profissional respeitoso.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Respeito não é opcional: faz parte da conduta profissional.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Não tolerância à discriminação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A Líder Ambiental adota política de tolerância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É proibida qualquer forma de discriminação, preconceito, segregação ou exclusão.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pode haver distinção por raça, cor, etnia, gênero, orientação sexual ou identidade de gênero.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Também são protegidas religião, convicção política, idade, deficiência, nacionalidade e condição socioeconômica.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Promovemos igualdade de oportunidades e equidade.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Trate as pessoas com respeito e sem discriminação.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Situação prática • Discriminação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Leia e escolha a conduta compatível com o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03030"/>
                </a:solidFill>
              </a:defRPr>
            </a:pPr>
            <a:r>
              <a:t>Durante uma atividade, um colega faz comentários depreciativos sobre outro colaborador. O que fazer?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A. Participar para evitar conflito.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1071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B. Ignorar, pois é assunto pessoal.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23944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C. Interromper a conduta e comunicar a situação pelos canais internos disponíveis.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37176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D. Compartilhar os comentários em um grupo para pedir opinião.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Situação prática</a:t>
            </a:r>
          </a:p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989320"/>
            <a:ext cx="2926080" cy="347472"/>
          </a:xfrm>
          <a:prstGeom prst="roundRect">
            <a:avLst/>
          </a:prstGeom>
          <a:solidFill>
            <a:srgbClr val="F7F9F4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96969"/>
                </a:solidFill>
              </a:defRPr>
            </a:pPr>
            <a:r>
              <a:t>Instrutor: discuta antes do gabarito.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Direitos trabalhistas e prevenção à 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é tolerado trabalho infantil.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É proibido trabalho forçado ou escravidão moderna.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são aceitos trabalho degradante, involuntário, sob coação ou com retenção de documentos.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 mesmo padrão ético é exigido nas relações com clientes e fornecedores.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Conduta ética também se aplica à cadeia de relacionamento da empresa.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Liberdade de associação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Os colaboradores têm direito de se associar livremente a sindicatos e órgãos de classe.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 associação deve ocorrer sem represálias.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Respeitar esse direito é parte do compromisso com os direitos humanos.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Respeito à liberdade de associação significa ausência de retaliação.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Anticorrupção e suborno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Tolerância zero à corrupção.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É proibido oferecer, prometer, autorizar ou dar vantagem indevida.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 proibição inclui suborno ou propina.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Aplica-se a agentes públicos e representantes de clientes.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Uma oportunidade comercial nunca justifica violar o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Não ofereça nem aceite vantagens indevidas.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Conflito de interesses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Evite situações em que interesses pessoais entrem em confronto com os interesses da empresa ou de seus clientes.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Vínculos familiares ou comerciais suspeitos devem ser reportados formalmente.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Transparência ajuda a preservar a imparcialidade das decisões.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Se houver dúvida sobre um possível conflito, reporte formalmente antes de decidir.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Brindes, presentes e entretenimento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aceite nem ofereça presentes, jantares, viagens ou entretenimento que possam influenciar decisões comerciais ou análises técnicas.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Brindes institucionais de valor corporativo simbólico precisam de aprovação da diretoria.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Em análises técnicas, preserve sempre a independência profissional.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Se o benefício puder influenciar uma decisão, não aceite nem ofereça.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Quiz • Um presente pode ser aceito?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03030"/>
                </a:solidFill>
              </a:defRPr>
            </a:pPr>
            <a:r>
              <a:t>Um fornecedor oferece um benefício antes de uma decisão comercial. Qual é a conduta adequada?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A. Aceitar, desde que ninguém saiba.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071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B. Aceitar se parecer de baixo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23944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C. Recusar quando houver possibilidade de influência e seguir as regras do Código.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37176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D. Aceitar e compensar com um favor futuro.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Quiz</a:t>
            </a:r>
          </a:p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989320"/>
            <a:ext cx="2926080" cy="347472"/>
          </a:xfrm>
          <a:prstGeom prst="roundRect">
            <a:avLst/>
          </a:prstGeom>
          <a:solidFill>
            <a:srgbClr val="F7F9F4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96969"/>
                </a:solidFill>
              </a:defRPr>
            </a:pPr>
            <a:r>
              <a:t>Instrutor: destaque o risco de influência.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Segurança química e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EPI é obrigatório e inegociável.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Use EPIs completos: jaleco, óculos de proteção, luvas nitrílicas, calçado fechado e outros necessários.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 uso correto deve ocorrer durante as atividades aplicáveis.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inicie manipulações sem a proteção exigida.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SEGURANÇA PRIMEIRO: EPI completo antes da manipulação.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Conheça os equipamentos de emergência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Saiba onde ficam os chuveiros de emergência.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Conheça a localização e o funcionamento dos lava-olhos.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Antes da atividade, confirme que sabe como agir em uma emergência.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Em caso de acidente, siga os procedimentos de segurança do setor.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Conhecer o equipamento antes da emergência faz parte da prevenção.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Reagentes, soluções e FISPQ/FDS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Manuseie reagentes e soluções rigorosamente conforme as fichas de segurança.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Consulte a FISPQ/FDS antes de atividades que exijam orientação de segurança.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improvise procedimentos de manuseio, armazenamento ou descarte.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Ficha de segurança é referência obrigatória para o manuseio seguro.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Integridade de dados e registros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Dados técnicos devem refletir o que realmente aconteceu.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Registre pesagens, titulações, leituras de equipamentos e preparo de soluções em tempo real.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Os registros devem ser feitos sem rasuras.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Resultados de análises químicas não podem ser alterados, omitidos ou falsificados.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Integridade do dado = registrar corretamente, no momento correto.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O que é proibido nos registros?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Alterar resultados de análises.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Omitir informações relevantes.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Falsificar laudos ou registros analíticos.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Modificar um registro para fazer o resultado 'caber' em uma expectativa.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Nunca ajuste o dado para atender a uma expectativa.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Situação prática • Resultado fora do esperado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03030"/>
                </a:solidFill>
              </a:defRPr>
            </a:pPr>
            <a:r>
              <a:t>Um resultado analítico parece incoerente. Um colega sugere alterar o valor para evitar retrabalho. O que fazer?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A. Alterar o resultado e seguir.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071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B. Apagar o registro original.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23944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C. Manter o registro real e comunicar a situação ao responsável.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37176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D. Esperar alguém perceber o problema.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Situação prática</a:t>
            </a:r>
          </a:p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989320"/>
            <a:ext cx="2926080" cy="347472"/>
          </a:xfrm>
          <a:prstGeom prst="roundRect">
            <a:avLst/>
          </a:prstGeom>
          <a:solidFill>
            <a:srgbClr val="F7F9F4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96969"/>
                </a:solidFill>
              </a:defRPr>
            </a:pPr>
            <a:r>
              <a:t>Instrutor: reforçar integridade do registro.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Desvio ou suspeita de contaminação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A resposta correta é agir com rapidez e transparência.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1. PARE a atividade quando houver risco ou dúvida relevante.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2. PRESERVE os registros e evidências disponíveis.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3. COMUNIQUE imediatamente ao supervisor qualquer desvio ou suspeita de contaminação.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74392B"/>
                </a:solidFill>
              </a:defRPr>
            </a:pPr>
            <a:r>
              <a:t>STOP → PRESERVE → COMUNIQUE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Sigilo profissional e propriedade intelectual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Auxiliares técnicos podem ter acesso a fórmulas, processos industriais e dados confidenciais.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Essas informações não podem ser compartilhadas com terceiros.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 sigilo protege a empresa e, especialmente, os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Informação confidencial deve permanecer protegida.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Fotos em instalações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É proibido fotografar painéis de controle, relatórios, equipamentos ou instalações do cliente sem autorização prévia por escrito.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publique imagens de atividades ou instalações sem a autorização exigida.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Quando houver dúvida, não fotografe e peça orientação.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Sem autorização prévia por escrito: não fotografe.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Postura operacional e preservação ambiental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Resíduos químicos devem seguir rigorosamente o plano de gerenciamento de resíduos do laboratório.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Isso inclui ácidos, bases e solventes halogenados e não-halogenados.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Produtos químicos nunca devem ser descartados na pia.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Organização e prevenção fazem parte da responsabilidade ambiental.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O descarte correto protege pessoas, instalações e o meio ambiente.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Resíduos químicos • Como agir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Identifique e segregue os resíduos conforme o procedimento aplicável.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Siga o plano de gerenciamento de resíduos do laboratório.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descarte produtos químicos na pia.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Em caso de dúvida, pare e procure orientação.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Nunca descarte produtos químicos na pia.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Organização da capela e uso do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Capelas de exaustão devem permanecer organizadas e limpas.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acumule reagentes desnecessários dentro das capelas.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O uso de aparelhos celulares particulares é proibido durante a manipulação de análises.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Motivo: evitar distrações e contaminações.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Durante a manipulação: foco total na atividade.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Não ignore uma conduta inadequada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Uma irregularidade pode colocar pessoas, dados, clientes ou o meio ambiente em risco.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Não participe, não encubra e não altere registros para esconder um problema.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Comunique desvios e suspeitas ao responsável/supervisor conforme o Código.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Preserve as informações e evidências relevantes.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Ética também é agir quando algo está errado.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Desafio final • Você decide como agir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03030"/>
                </a:solidFill>
              </a:defRPr>
            </a:pPr>
            <a:r>
              <a:t>Você identifica uma alteração indevida em um registro técnico. Qual sequência está alinhada ao Código?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A. Corrigir silenciosamente e descartar o registro anterior.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071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B. Manter a integridade do registro, preservar evidências e comunicar o responsável.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23944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C. Esperar o fechamento do relatório.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37176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030"/>
                </a:solidFill>
              </a:defRPr>
            </a:pPr>
            <a:r>
              <a:t>D. Comentar informalmente com colegas e deixar que decidam.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Desafio</a:t>
            </a:r>
          </a:p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989320"/>
            <a:ext cx="2926080" cy="347472"/>
          </a:xfrm>
          <a:prstGeom prst="roundRect">
            <a:avLst/>
          </a:prstGeom>
          <a:solidFill>
            <a:srgbClr val="F7F9F4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96969"/>
                </a:solidFill>
              </a:defRPr>
            </a:pPr>
            <a:r>
              <a:t>Instrutor: peça justificativa.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Medidas disciplinares e sanções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As medidas são aplicadas de forma proporcional à gravidade dos 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Advertência verbal: faltas operacionais leves e involuntárias.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Advertência escrita: reincidência operacional ou desvios de conduta moderados.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Suspensão: reincidência de faltas moderadas ou atos graves que coloquem em risco a segurança do laboratório ou das pessoas.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Demissão por justa causa ou destituição de cargo: situações graves previstas no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4392B"/>
                </a:solidFill>
              </a:defRPr>
            </a:pPr>
            <a:r>
              <a:t>O Código prevê medidas disciplinares conforme a gravidade e a natureza da conduta.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Condutas com consequências imediatas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Práticas discriminatórias comprovadas.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Atos de corrupção ou suborno.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Fraude em laudos e registros analíticos.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Descarte intencional irregular de poluentes químicos.</a:t>
            </a:r>
          </a:p>
          <a:p>
            <a:pPr>
              <a:spcAft>
                <a:spcPts val="1000"/>
              </a:spcAft>
              <a:defRPr sz="2100" b="0">
                <a:solidFill>
                  <a:srgbClr val="303030"/>
                </a:solidFill>
              </a:defRPr>
            </a:pPr>
            <a:r>
              <a:t>Quebra de sigilo industrial de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4392B"/>
                </a:solidFill>
              </a:defRPr>
            </a:pPr>
            <a:r>
              <a:t>Para lideranças e governança, atos discriminatórios ou corrupção podem resultar em destituição imediata do cargo executivo, sem prejuízo das responsabilidades legais.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Avaliação final • 10 questões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Marque a alternativa que melhor representa o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1. O Código se aplica a quem?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2. Qual conduta é proibida?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39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3. Sobre corrupção: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4. Sobre conflitos de interesse: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5. Sobre brindes: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15000"/>
            <a:ext cx="10515600" cy="50292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4392B"/>
                </a:solidFill>
              </a:defRPr>
            </a:pPr>
            <a:r>
              <a:t>Aplique as questões 6–10 na próxima tela.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Avaliação</a:t>
            </a:r>
          </a:p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Avaliação final • Questões 6 a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6. Sobre EPI: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7. Sobre registros: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39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8. Sobre contaminação: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9. Sobre fotos no cliente: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3030"/>
                </a:solidFill>
              </a:defRPr>
            </a:pPr>
            <a:r>
              <a:t>10. Sobre produtos químicos: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515600" cy="50292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4392B"/>
                </a:solidFill>
              </a:defRPr>
            </a:pPr>
            <a:r>
              <a:t>Sugestão operacional: considerar aproveitamento mínimo de 70% para conclusão do treinamento.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Avaliação</a:t>
            </a:r>
          </a:p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Gabarito do instrutor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Use após a conclusão da avaliação.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303030"/>
                </a:solidFill>
              </a:defRPr>
            </a:pPr>
            <a:r>
              <a:t>1 — B   |   2 — C   |   3 — B   |   4 — B   |   5 — C</a:t>
            </a:r>
          </a:p>
          <a:p>
            <a:pPr>
              <a:spcAft>
                <a:spcPts val="1000"/>
              </a:spcAft>
              <a:defRPr sz="2400" b="0">
                <a:solidFill>
                  <a:srgbClr val="303030"/>
                </a:solidFill>
              </a:defRPr>
            </a:pPr>
            <a:r>
              <a:t>6 — B   |   7 — B   |   8 — B   |   9 — B   |   10 —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4392B"/>
                </a:solidFill>
              </a:defRPr>
            </a:pPr>
            <a:r>
              <a:t>Pontuação sugerida: 1 ponto por questão • 10 pontos no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Avaliação</a:t>
            </a:r>
          </a:p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5989320"/>
            <a:ext cx="2926080" cy="347472"/>
          </a:xfrm>
          <a:prstGeom prst="roundRect">
            <a:avLst/>
          </a:prstGeom>
          <a:solidFill>
            <a:srgbClr val="F7F9F4"/>
          </a:solidFill>
          <a:ln>
            <a:solidFill>
              <a:srgbClr val="E1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96969"/>
                </a:solidFill>
              </a:defRPr>
            </a:pPr>
            <a:r>
              <a:t>Instrutor: aplicar após a avaliação.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56032"/>
            <a:ext cx="1234440" cy="670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74392B"/>
                </a:solidFill>
              </a:defRPr>
            </a:pPr>
            <a:r>
              <a:t>Compromisso do colaborador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t>Antes de concluir, reflita sobre a sua responsabilidade.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303030"/>
                </a:solidFill>
              </a:defRPr>
            </a:pPr>
            <a:r>
              <a:t>Li e compreendi as principais regras do Código de Conduta e Ética.</a:t>
            </a:r>
          </a:p>
          <a:p>
            <a:pPr>
              <a:spcAft>
                <a:spcPts val="1000"/>
              </a:spcAft>
              <a:defRPr sz="2000" b="0">
                <a:solidFill>
                  <a:srgbClr val="303030"/>
                </a:solidFill>
              </a:defRPr>
            </a:pPr>
            <a:r>
              <a:t>Comprometo-me a agir com respeito, integridade e responsabilidade.</a:t>
            </a:r>
          </a:p>
          <a:p>
            <a:pPr>
              <a:spcAft>
                <a:spcPts val="1000"/>
              </a:spcAft>
              <a:defRPr sz="2000" b="0">
                <a:solidFill>
                  <a:srgbClr val="303030"/>
                </a:solidFill>
              </a:defRPr>
            </a:pPr>
            <a:r>
              <a:t>Comprometo-me a proteger pessoas, informações, dados técnicos e o meio ambiente.</a:t>
            </a:r>
          </a:p>
          <a:p>
            <a:pPr>
              <a:spcAft>
                <a:spcPts val="1000"/>
              </a:spcAft>
              <a:defRPr sz="2000" b="0">
                <a:solidFill>
                  <a:srgbClr val="303030"/>
                </a:solidFill>
              </a:defRPr>
            </a:pPr>
            <a:r>
              <a:t>Comprometo-me a comunicar desvios e situações incompatíveis com o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74392B"/>
                </a:solidFill>
              </a:defRPr>
            </a:pPr>
            <a:r>
              <a:t>Nome: ______________________________    Data: ____ / ____ / 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Compromisso</a:t>
            </a:r>
          </a:p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marca 6,6 K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594360"/>
            <a:ext cx="3108960" cy="16896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103120"/>
            <a:ext cx="10149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4392B"/>
                </a:solidFill>
              </a:defRPr>
            </a:pPr>
            <a:r>
              <a:t>OBRIGADO!</a:t>
            </a:r>
          </a:p>
          <a:p>
            <a:pPr algn="ctr">
              <a:defRPr sz="2300">
                <a:solidFill>
                  <a:srgbClr val="8DC441"/>
                </a:solidFill>
              </a:defRPr>
            </a:pPr>
            <a:r>
              <a:t>Ética se demonstra nas escolhas do dia a dia.</a:t>
            </a:r>
          </a:p>
          <a:p>
            <a:pPr algn="ctr">
              <a:defRPr sz="1700">
                <a:solidFill>
                  <a:srgbClr val="696969"/>
                </a:solidFill>
              </a:defRPr>
            </a:pPr>
            <a:r>
              <a:t>Líder Ambiental Consultoria e Projetos Ltda.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983480"/>
            <a:ext cx="5760720" cy="640080"/>
          </a:xfrm>
          <a:prstGeom prst="roundRect">
            <a:avLst/>
          </a:prstGeom>
          <a:solidFill>
            <a:srgbClr val="F7F9F4"/>
          </a:solidFill>
          <a:ln w="19050">
            <a:solidFill>
              <a:srgbClr val="8DC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4392B"/>
                </a:solidFill>
              </a:defRPr>
            </a:pPr>
            <a:r>
              <a:t>Código LA-AD-019 • Revisão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Líder Ambiental  •  Código de Conduta e Ética</a:t>
            </a:r>
          </a:p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2308</Words>
  <Application>Microsoft Office PowerPoint</Application>
  <PresentationFormat>Widescreen</PresentationFormat>
  <Paragraphs>287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ROBERTA Costa de Sousa Lozer</dc:creator>
  <cp:keywords/>
  <dc:description>generated using python-pptx</dc:description>
  <cp:lastModifiedBy>ROBERTA Costa de Sousa Lozer</cp:lastModifiedBy>
  <cp:revision>1</cp:revision>
  <dcterms:created xsi:type="dcterms:W3CDTF">2013-01-27T09:14:16Z</dcterms:created>
  <dcterms:modified xsi:type="dcterms:W3CDTF">2026-09-16T15:03:27Z</dcterms:modified>
  <cp:category/>
</cp:coreProperties>
</file>